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2" r:id="rId6"/>
    <p:sldId id="313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6600" dirty="0"/>
              <a:t>Gap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Shah harsh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parag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7DDB-DFF5-7071-9197-D4EA0EB24BAE}"/>
              </a:ext>
            </a:extLst>
          </p:cNvPr>
          <p:cNvSpPr txBox="1">
            <a:spLocks/>
          </p:cNvSpPr>
          <p:nvPr/>
        </p:nvSpPr>
        <p:spPr>
          <a:xfrm>
            <a:off x="588723" y="409224"/>
            <a:ext cx="4672584" cy="70230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/>
              <a:t>GAP ANALYSIS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9B1D78-71C5-0325-65F4-FAC7BA104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672" y="939576"/>
            <a:ext cx="11179605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Limited Modality Usage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Many studies (e.g., 3D CNN, U-Net based) rely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only on imaging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(low-dose CT).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Few works integrate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radiomics + clinical data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in a robust way.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Gap: Lack of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multimodal fusion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in practical CAD systems.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Nodule Type Differentiation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Several pipelines predict malignancy but do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not classify nodule types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(solid, part-solid, GGO) or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cancer subtypes (NSCLC variants)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Gap: Missing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fine-grained classification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beyond binary malignant/benign.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False Positives &amp; Reliability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Early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CADe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systems produce many false positives; later works use complex cascades for reduction.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Gap: No unified pipeline with strong calibration + meta-classification to improve reliability.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Small Nodules &amp; Imbalanced Data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Transformer/attention models improve small-nodule detection but require huge compute + labels.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Semi-supervised models exist but propagate pseudo-label errors.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Gap: Handling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small nodules in low-data settings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remains weak.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Longitudinal Tracking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 few works (e.g., CSF-Net) explore longitudinal CT, but training is complex and data-demanding.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Gap: Lack of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efficient longitudinal monitoring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in CAD systems.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Explainability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Many systems achieve high accuracy but are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black-box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578358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Gap: Weak interpretability (few use Grad-CAM or clinical-style reporting).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301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4735-03F7-532D-0191-F2FA937418D2}"/>
              </a:ext>
            </a:extLst>
          </p:cNvPr>
          <p:cNvSpPr txBox="1">
            <a:spLocks/>
          </p:cNvSpPr>
          <p:nvPr/>
        </p:nvSpPr>
        <p:spPr>
          <a:xfrm>
            <a:off x="420624" y="460339"/>
            <a:ext cx="7068312" cy="7023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How Your Project Resolves These Gaps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39B708-7D72-BD9C-25F0-5B055B906E32}"/>
              </a:ext>
            </a:extLst>
          </p:cNvPr>
          <p:cNvSpPr txBox="1"/>
          <p:nvPr/>
        </p:nvSpPr>
        <p:spPr>
          <a:xfrm>
            <a:off x="420624" y="1162644"/>
            <a:ext cx="1142085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Multimodal Fusion (Feature-level Integration)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Your pipeline combines deep embeddings (z) + radiomics + clinical data → addressing gap #1.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This makes predictions clinically more relevant and robust.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Multi-Task Classification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You add Nodule Type Head + NSCLC Subtype Head → addresses gap #2.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This provides granular diagnosis (solid/part-solid/GGO, adenocarcinoma/squamous/large).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Meta-Classifier + Calibration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Using </a:t>
            </a:r>
            <a:r>
              <a:rPr lang="en-US" altLang="en-US" sz="1600" dirty="0" err="1">
                <a:latin typeface="Arial" panose="020B0604020202020204" pitchFamily="34" charset="0"/>
              </a:rPr>
              <a:t>XGBoost</a:t>
            </a:r>
            <a:r>
              <a:rPr lang="en-US" altLang="en-US" sz="1600" dirty="0">
                <a:latin typeface="Arial" panose="020B0604020202020204" pitchFamily="34" charset="0"/>
              </a:rPr>
              <a:t>/</a:t>
            </a:r>
            <a:r>
              <a:rPr lang="en-US" altLang="en-US" sz="1600" dirty="0" err="1">
                <a:latin typeface="Arial" panose="020B0604020202020204" pitchFamily="34" charset="0"/>
              </a:rPr>
              <a:t>LogReg</a:t>
            </a:r>
            <a:r>
              <a:rPr lang="en-US" altLang="en-US" sz="1600" dirty="0">
                <a:latin typeface="Arial" panose="020B0604020202020204" pitchFamily="34" charset="0"/>
              </a:rPr>
              <a:t>/SVM on top of deep features, plus probability calibration → addresses gap #3.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Reduces false positives and improves clinical trust.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Efficient Small-Nodule Handling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ROI extraction (32–64³) around candidates makes small nodules detectable.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Pretraining with </a:t>
            </a:r>
            <a:r>
              <a:rPr lang="en-US" altLang="en-US" sz="1600" dirty="0" err="1">
                <a:latin typeface="Arial" panose="020B0604020202020204" pitchFamily="34" charset="0"/>
              </a:rPr>
              <a:t>RadImageNet</a:t>
            </a:r>
            <a:r>
              <a:rPr lang="en-US" altLang="en-US" sz="1600" dirty="0">
                <a:latin typeface="Arial" panose="020B0604020202020204" pitchFamily="34" charset="0"/>
              </a:rPr>
              <a:t> + SSL helps in low-data settings → addresses gap #4.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Longitudinal Tracking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You include growth rate analysis + follow-up reporting → addresses gap #5.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Clinically very important for monitoring.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Arial" panose="020B0604020202020204" pitchFamily="34" charset="0"/>
              </a:rPr>
              <a:t>Explainability + Clinical Reporting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Grad-CAM + Lung-RADS-like summaries make results interpretable → addresses gap #6.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Doctors can validate decisions rather than blindly trusting the model.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67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243E50-359A-6D9E-D62B-EC03D8876B9A}"/>
              </a:ext>
            </a:extLst>
          </p:cNvPr>
          <p:cNvSpPr txBox="1"/>
          <p:nvPr/>
        </p:nvSpPr>
        <p:spPr>
          <a:xfrm>
            <a:off x="420624" y="1166842"/>
            <a:ext cx="11430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Balance of Accuracy &amp; Efficiency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ResNet-18 has fewer parameters (~11M) compared to ResNet-34 (~21M) or ResNet-50 (~25M).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For 3D CT volumes, heavy models cause memory/computation bottlenecks → ResNet-18 is lightweight yet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Proven in Medical Imaging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RadImageNet</a:t>
            </a:r>
            <a:r>
              <a:rPr lang="en-IN" dirty="0"/>
              <a:t> pretraining includes </a:t>
            </a:r>
            <a:r>
              <a:rPr lang="en-IN" b="1" dirty="0"/>
              <a:t>ResNet-18 encoders</a:t>
            </a:r>
            <a:r>
              <a:rPr lang="en-IN" dirty="0"/>
              <a:t> widely validated on lung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Ensures </a:t>
            </a:r>
            <a:r>
              <a:rPr lang="en-IN" b="1" dirty="0"/>
              <a:t>strong transfer learning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Small Dataset Friendly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Larger models risk overfitting when data is limited.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ResNet-18 generalizes better in low-data regimes (your 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3D Adaptability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ResNet-18 architecture easily extends to </a:t>
            </a:r>
            <a:r>
              <a:rPr lang="en-IN" b="1" dirty="0"/>
              <a:t>3D convolutions</a:t>
            </a:r>
            <a:r>
              <a:rPr lang="en-IN" dirty="0"/>
              <a:t> (3D ResNet-18).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More complex models (e.g., DenseNet-201, Vision Transformers) require huge training sets &amp; GPUs.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Explainability &amp; Simplicity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Shallower models → </a:t>
            </a:r>
            <a:r>
              <a:rPr lang="en-IN" b="1" dirty="0"/>
              <a:t>easier Grad-CAM visualization</a:t>
            </a:r>
            <a:r>
              <a:rPr lang="en-IN" dirty="0"/>
              <a:t>, making outputs interpretable for radiologists.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7D7821-D88A-D7B2-7579-D8E5F24951B7}"/>
              </a:ext>
            </a:extLst>
          </p:cNvPr>
          <p:cNvSpPr txBox="1">
            <a:spLocks/>
          </p:cNvSpPr>
          <p:nvPr/>
        </p:nvSpPr>
        <p:spPr>
          <a:xfrm>
            <a:off x="420624" y="460339"/>
            <a:ext cx="11430000" cy="7023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b-NO" sz="2800" dirty="0"/>
              <a:t>Why ResNet-18 (Not ResNet-34/50, DenseNet, Transformer, etc.)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0133783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{8BC5555A-079E-487B-8680-320B094E8EB3}tf33845126_win32</Template>
  <TotalTime>20</TotalTime>
  <Words>556</Words>
  <Application>Microsoft Office PowerPoint</Application>
  <PresentationFormat>Widescreen</PresentationFormat>
  <Paragraphs>57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Bookman Old Style</vt:lpstr>
      <vt:lpstr>Calibri</vt:lpstr>
      <vt:lpstr>Franklin Gothic Book</vt:lpstr>
      <vt:lpstr>1_RetrospectVTI</vt:lpstr>
      <vt:lpstr>Gap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Shah</dc:creator>
  <cp:lastModifiedBy>Harsh Shah</cp:lastModifiedBy>
  <cp:revision>1</cp:revision>
  <dcterms:created xsi:type="dcterms:W3CDTF">2025-09-26T13:48:55Z</dcterms:created>
  <dcterms:modified xsi:type="dcterms:W3CDTF">2025-09-26T14:09:04Z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